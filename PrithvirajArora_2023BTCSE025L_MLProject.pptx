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Logistic Regression Performance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A8FE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Baseline LR</c:v>
                  </c:pt>
                  <c:pt idx="1">
                    <c:v>Optimized LR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0.76</c:v>
                </c:pt>
                <c:pt idx="1">
                  <c:v>0.77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Baseline LR</c:v>
                  </c:pt>
                  <c:pt idx="1">
                    <c:v>Optimized LR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0.6</c:v>
                </c:pt>
                <c:pt idx="1">
                  <c:v>0.61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Baseline LR</c:v>
                  </c:pt>
                  <c:pt idx="1">
                    <c:v>Optimized LR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0.81</c:v>
                </c:pt>
                <c:pt idx="1">
                  <c:v>0.82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PCA Variance Explained per Component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Variance Explained (%)</c:v>
                </c:pt>
              </c:strCache>
            </c:strRef>
          </c:tx>
          <c:spPr>
            <a:solidFill>
              <a:srgbClr val="1A8FE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PC1</c:v>
                  </c:pt>
                  <c:pt idx="1">
                    <c:v>PC2</c:v>
                  </c:pt>
                  <c:pt idx="2">
                    <c:v>PC3</c:v>
                  </c:pt>
                  <c:pt idx="3">
                    <c:v>PC4</c:v>
                  </c:pt>
                  <c:pt idx="4">
                    <c:v>PC5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22</c:v>
                </c:pt>
                <c:pt idx="2">
                  <c:v>14</c:v>
                </c:pt>
                <c:pt idx="3">
                  <c:v>9</c:v>
                </c:pt>
                <c:pt idx="4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Model Performance Comparison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A8FE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LR (Baseline)</c:v>
                  </c:pt>
                  <c:pt idx="1">
                    <c:v>LR (Optimized)</c:v>
                  </c:pt>
                  <c:pt idx="2">
                    <c:v>Decision Tree</c:v>
                  </c:pt>
                  <c:pt idx="3">
                    <c:v>Random Forest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0.76</c:v>
                </c:pt>
                <c:pt idx="1">
                  <c:v>0.77</c:v>
                </c:pt>
                <c:pt idx="2">
                  <c:v>0.78</c:v>
                </c:pt>
                <c:pt idx="3">
                  <c:v>0.82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LR (Baseline)</c:v>
                  </c:pt>
                  <c:pt idx="1">
                    <c:v>LR (Optimized)</c:v>
                  </c:pt>
                  <c:pt idx="2">
                    <c:v>Decision Tree</c:v>
                  </c:pt>
                  <c:pt idx="3">
                    <c:v>Random Forest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</c:v>
                </c:pt>
                <c:pt idx="1">
                  <c:v>0.61</c:v>
                </c:pt>
                <c:pt idx="2">
                  <c:v>0.62</c:v>
                </c:pt>
                <c:pt idx="3">
                  <c:v>0.67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LR (Baseline)</c:v>
                  </c:pt>
                  <c:pt idx="1">
                    <c:v>LR (Optimized)</c:v>
                  </c:pt>
                  <c:pt idx="2">
                    <c:v>Decision Tree</c:v>
                  </c:pt>
                  <c:pt idx="3">
                    <c:v>Random Forest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0.81</c:v>
                </c:pt>
                <c:pt idx="1">
                  <c:v>0.82</c:v>
                </c:pt>
                <c:pt idx="2">
                  <c:v>0.83</c:v>
                </c:pt>
                <c:pt idx="3">
                  <c:v>0.88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206240"/>
            <a:ext cx="8686800" cy="937260"/>
          </a:xfrm>
          <a:prstGeom prst="rect">
            <a:avLst/>
          </a:prstGeom>
          <a:solidFill>
            <a:srgbClr val="1C3554"/>
          </a:solidFill>
          <a:ln w="12700">
            <a:solidFill>
              <a:srgbClr val="1C35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48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CLOUDBURST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SYSTEM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Classification using Meteorological Data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519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Prithviraj Arora  |  2023BTCSE025L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|  Semester 6  |  Jagran Lakecity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Cloudbursts — extreme precipitation events exceeding 100 mm/hr — pose severe risks to infrastructure and human safety. Early prediction using meteorological data enables timely warnings and disaster preparedness.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06040" cy="2560320"/>
          </a:xfrm>
          <a:prstGeom prst="rect">
            <a:avLst/>
          </a:prstGeom>
          <a:solidFill>
            <a:srgbClr val="1C3554"/>
          </a:solidFill>
          <a:ln w="12700">
            <a:solidFill>
              <a:srgbClr val="1C35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54864" cy="2560320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993392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2313432"/>
            <a:ext cx="2350008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binary classifier to predict whether a cloudburst will occur the following day, using same-day weather observations as input.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874520"/>
            <a:ext cx="2606040" cy="2560320"/>
          </a:xfrm>
          <a:prstGeom prst="rect">
            <a:avLst/>
          </a:prstGeom>
          <a:solidFill>
            <a:srgbClr val="1C3554"/>
          </a:solidFill>
          <a:ln w="12700">
            <a:solidFill>
              <a:srgbClr val="1C35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874520"/>
            <a:ext cx="54864" cy="2560320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1993392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56432" y="2313432"/>
            <a:ext cx="2350008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supervised machine learning models — from Logistic Regression to Random Forest — with systematic feature engineering and hyperparameter tuning.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874520"/>
            <a:ext cx="2606040" cy="2560320"/>
          </a:xfrm>
          <a:prstGeom prst="rect">
            <a:avLst/>
          </a:prstGeom>
          <a:solidFill>
            <a:srgbClr val="1C3554"/>
          </a:solidFill>
          <a:ln w="12700">
            <a:solidFill>
              <a:srgbClr val="1C35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874520"/>
            <a:ext cx="54864" cy="2560320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1993392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91072" y="2313432"/>
            <a:ext cx="2350008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trained Random Forest model as an interactive Streamlit web application for real-time risk assessment.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1828800" cy="1097280"/>
          </a:xfrm>
          <a:prstGeom prst="rect">
            <a:avLst/>
          </a:prstGeom>
          <a:solidFill>
            <a:srgbClr val="EBF4FD"/>
          </a:solidFill>
          <a:ln w="19050">
            <a:solidFill>
              <a:srgbClr val="1A8F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8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145,460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960120"/>
            <a:ext cx="1828800" cy="1097280"/>
          </a:xfrm>
          <a:prstGeom prst="rect">
            <a:avLst/>
          </a:prstGeom>
          <a:solidFill>
            <a:srgbClr val="EBF4FD"/>
          </a:solidFill>
          <a:ln w="19050">
            <a:solidFill>
              <a:srgbClr val="1A8F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8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603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Columns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1828800" cy="1097280"/>
          </a:xfrm>
          <a:prstGeom prst="rect">
            <a:avLst/>
          </a:prstGeom>
          <a:solidFill>
            <a:srgbClr val="EBF4FD"/>
          </a:solidFill>
          <a:ln w="19050">
            <a:solidFill>
              <a:srgbClr val="1A8F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8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6344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Cities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960120"/>
            <a:ext cx="1828800" cy="1097280"/>
          </a:xfrm>
          <a:prstGeom prst="rect">
            <a:avLst/>
          </a:prstGeom>
          <a:solidFill>
            <a:srgbClr val="EBF4FD"/>
          </a:solidFill>
          <a:ln w="19050">
            <a:solidFill>
              <a:srgbClr val="1A8F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8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Input Features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8229600" cy="219456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MinimumTemperature, MaximumTemperature, Temperature9am, Temperature3pm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WindGustDirection, WindGustSpeed, WindDirection9am/3pm, WindSpeed9am/3pm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Atmosphere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Humidity9am/3pm, Pressure9am/3pm, Cloud9am/3pm, Rainfall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CloudBurstTomorrow (Yes / No)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Methodology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2606040" cy="347472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9669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Data Understanding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21208" y="1380744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analysis, distribution analysis, correlation heatmaps, and class balance assessment.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18688" y="96012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18688" y="960120"/>
            <a:ext cx="2606040" cy="347472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99669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Preprocessing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28416" y="1380744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imputation, ordinal and one-hot encoding for categorical features, feature standardization.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25896" y="96012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25896" y="960120"/>
            <a:ext cx="2606040" cy="347472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17336" y="99669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Model Training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35624" y="1380744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(baseline), regularization experiments, Logistic Regression (optimized).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88036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880360"/>
            <a:ext cx="2606040" cy="347472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9169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Advanced Modelling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" y="3300984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and Random Forest classifiers with GridSearchCV hyperparameter tuning.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18688" y="288036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18688" y="2880360"/>
            <a:ext cx="2606040" cy="347472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29169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Unsupervised Analysis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28416" y="3300984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dimensionality reduction and K-Means clustering for structural insights.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25896" y="288036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25896" y="2880360"/>
            <a:ext cx="2606040" cy="347472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17336" y="29169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Deployment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35624" y="3300984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application for real-time cloudburst risk prediction using the final RF model.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Data Understanding &amp; Preprocessing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4069080" cy="1783080"/>
          </a:xfrm>
          <a:prstGeom prst="rect">
            <a:avLst/>
          </a:prstGeom>
          <a:solidFill>
            <a:srgbClr val="1C3554"/>
          </a:solidFill>
          <a:ln w="12700">
            <a:solidFill>
              <a:srgbClr val="1C35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54864" cy="1783080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078992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399032"/>
            <a:ext cx="381304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columns imputed with column median; categorical columns imputed with the most frequent value.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960120"/>
            <a:ext cx="4069080" cy="1783080"/>
          </a:xfrm>
          <a:prstGeom prst="rect">
            <a:avLst/>
          </a:prstGeom>
          <a:solidFill>
            <a:srgbClr val="1C3554"/>
          </a:solidFill>
          <a:ln w="12700">
            <a:solidFill>
              <a:srgbClr val="1C35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960120"/>
            <a:ext cx="54864" cy="1783080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1078992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65192" y="1399032"/>
            <a:ext cx="381304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class (CloudBurstTomorrow) exhibits imbalance; class weights applied during model training.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069080" cy="1783080"/>
          </a:xfrm>
          <a:prstGeom prst="rect">
            <a:avLst/>
          </a:prstGeom>
          <a:solidFill>
            <a:srgbClr val="1C3554"/>
          </a:solidFill>
          <a:ln w="12700">
            <a:solidFill>
              <a:srgbClr val="1C35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26080"/>
            <a:ext cx="54864" cy="1783080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044952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Encoding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" y="3364992"/>
            <a:ext cx="381304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direction and Location encoded using one-hot encoding. Ordinal features mapped to numeric ranks.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926080"/>
            <a:ext cx="4069080" cy="1783080"/>
          </a:xfrm>
          <a:prstGeom prst="rect">
            <a:avLst/>
          </a:prstGeom>
          <a:solidFill>
            <a:srgbClr val="1C3554"/>
          </a:solidFill>
          <a:ln w="12700">
            <a:solidFill>
              <a:srgbClr val="1C35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2926080"/>
            <a:ext cx="54864" cy="1783080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3044952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65192" y="3364992"/>
            <a:ext cx="381304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numerical features scaled to zero mean and unit variance using StandardScaler prior to model fitting.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Supervised Learning: Logistic Regression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was established as the baseline classifier before progressing to ensemble methods.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17320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417320"/>
            <a:ext cx="3017520" cy="1645920"/>
          </a:xfrm>
          <a:prstGeom prst="rect">
            <a:avLst/>
          </a:prstGeom>
          <a:solidFill>
            <a:srgbClr val="1C3554"/>
          </a:solidFill>
          <a:ln w="12700">
            <a:solidFill>
              <a:srgbClr val="1C355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0" y="1417320"/>
            <a:ext cx="54864" cy="1645920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33872" y="1536192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Regularization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33872" y="1856232"/>
            <a:ext cx="2761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C=1.0 via cross-validation. Prevents overfitting on high-dimensional encoded feature space.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0" y="3246120"/>
            <a:ext cx="3017520" cy="1645920"/>
          </a:xfrm>
          <a:prstGeom prst="rect">
            <a:avLst/>
          </a:prstGeom>
          <a:solidFill>
            <a:srgbClr val="1C3554"/>
          </a:solidFill>
          <a:ln w="12700">
            <a:solidFill>
              <a:srgbClr val="1C355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0" y="3246120"/>
            <a:ext cx="54864" cy="1645920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33872" y="3364992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833872" y="3685032"/>
            <a:ext cx="2761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 Score, and AUC-ROC used for comprehensive performance assessment.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Optimization &amp; Unsupervised Learning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and K-Means clustering were applied to uncover hidden structure within the meteorological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1371600"/>
          </a:xfrm>
          <a:prstGeom prst="rect">
            <a:avLst/>
          </a:prstGeom>
          <a:solidFill>
            <a:srgbClr val="1C3554"/>
          </a:solidFill>
          <a:ln w="12700">
            <a:solidFill>
              <a:srgbClr val="1C35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1371600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9047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 Analysis (PCA)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810512"/>
            <a:ext cx="3675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explained: 2 components capture ~60% of total variance. Humidity and temperature variables contribute most to PC1.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3931920" cy="1371600"/>
          </a:xfrm>
          <a:prstGeom prst="rect">
            <a:avLst/>
          </a:prstGeom>
          <a:solidFill>
            <a:srgbClr val="1C3554"/>
          </a:solidFill>
          <a:ln w="12700">
            <a:solidFill>
              <a:srgbClr val="1C35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834640"/>
            <a:ext cx="54864" cy="1371600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95351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" y="3273552"/>
            <a:ext cx="3675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k=3 clusters identified via the Elbow Method. Clusters broadly separate high-humidity/high-rainfall conditions from dry conditions.</a:t>
            </a:r>
            <a:endParaRPr lang="en-US" sz="11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572000" y="1371600"/>
          <a:ext cx="41148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Advanced Models &amp; Hyperparameter Tuning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914400"/>
            <a:ext cx="2560320" cy="1234440"/>
          </a:xfrm>
          <a:prstGeom prst="rect">
            <a:avLst/>
          </a:prstGeom>
          <a:solidFill>
            <a:srgbClr val="1C3554"/>
          </a:solidFill>
          <a:ln w="12700">
            <a:solidFill>
              <a:srgbClr val="1C355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26480" y="914400"/>
            <a:ext cx="54864" cy="1234440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91072" y="103327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Random Forest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91072" y="1353312"/>
            <a:ext cx="230428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n_estimators=200, max_depth=15, min_samples_split=5 — tuned via 5-fold GridSearchCV.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26480" y="2286000"/>
            <a:ext cx="2560320" cy="1234440"/>
          </a:xfrm>
          <a:prstGeom prst="rect">
            <a:avLst/>
          </a:prstGeom>
          <a:solidFill>
            <a:srgbClr val="1C3554"/>
          </a:solidFill>
          <a:ln w="12700">
            <a:solidFill>
              <a:srgbClr val="1C355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26480" y="2286000"/>
            <a:ext cx="54864" cy="1234440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91072" y="240487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91072" y="2724912"/>
            <a:ext cx="230428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0.82   F1 Score: 0.67   AUC-ROC: 0.88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26480" y="3657600"/>
            <a:ext cx="2560320" cy="1234440"/>
          </a:xfrm>
          <a:prstGeom prst="rect">
            <a:avLst/>
          </a:prstGeom>
          <a:solidFill>
            <a:srgbClr val="1C3554"/>
          </a:solidFill>
          <a:ln w="12700">
            <a:solidFill>
              <a:srgbClr val="1C355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26480" y="3657600"/>
            <a:ext cx="54864" cy="1234440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91072" y="377647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291072" y="4096512"/>
            <a:ext cx="230428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Humidity3pm, Pressure3pm, WindGustSpeed, Cloud3pm, and Rainfall ranked highest by feature importance.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Application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Random Forest model is deployed as an interactive browser-based tool that accepts real-time meteorological inputs and returns an instant cloudburst risk assessment.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069080" cy="1417320"/>
          </a:xfrm>
          <a:prstGeom prst="rect">
            <a:avLst/>
          </a:prstGeom>
          <a:solidFill>
            <a:srgbClr val="1C3554"/>
          </a:solidFill>
          <a:ln w="12700">
            <a:solidFill>
              <a:srgbClr val="1C35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54864" cy="1417320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856232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Fields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2176272"/>
            <a:ext cx="38130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meteorological parameters including temperature, humidity, pressure, wind speed/direction, cloud cover, and location.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737360"/>
            <a:ext cx="4069080" cy="1417320"/>
          </a:xfrm>
          <a:prstGeom prst="rect">
            <a:avLst/>
          </a:prstGeom>
          <a:solidFill>
            <a:srgbClr val="1C3554"/>
          </a:solidFill>
          <a:ln w="12700">
            <a:solidFill>
              <a:srgbClr val="1C35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737360"/>
            <a:ext cx="54864" cy="1417320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856232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 Samples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65192" y="2176272"/>
            <a:ext cx="38130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pre-loaded sample scenarios (3 high-risk, 3 low-risk) verified against model true positives for demonstration.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4069080" cy="1417320"/>
          </a:xfrm>
          <a:prstGeom prst="rect">
            <a:avLst/>
          </a:prstGeom>
          <a:solidFill>
            <a:srgbClr val="1C3554"/>
          </a:solidFill>
          <a:ln w="12700">
            <a:solidFill>
              <a:srgbClr val="1C35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337560"/>
            <a:ext cx="54864" cy="1417320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456432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Output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" y="3776472"/>
            <a:ext cx="38130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result (High Risk / Low Risk) with a calculated probability score displayed prominently.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337560"/>
            <a:ext cx="4069080" cy="1417320"/>
          </a:xfrm>
          <a:prstGeom prst="rect">
            <a:avLst/>
          </a:prstGeom>
          <a:solidFill>
            <a:srgbClr val="1C3554"/>
          </a:solidFill>
          <a:ln w="12700">
            <a:solidFill>
              <a:srgbClr val="1C355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3337560"/>
            <a:ext cx="54864" cy="1417320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3456432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Pipeline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65192" y="3776472"/>
            <a:ext cx="38130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 is processed through the same preprocessor and scaler pipeline used during training before inference.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0" y="4572000"/>
            <a:ext cx="4572000" cy="411480"/>
          </a:xfrm>
          <a:prstGeom prst="rect">
            <a:avLst/>
          </a:prstGeom>
          <a:solidFill>
            <a:srgbClr val="1C3554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4572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 command:  streamlit run app.py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1828800" cy="1097280"/>
          </a:xfrm>
          <a:prstGeom prst="rect">
            <a:avLst/>
          </a:prstGeom>
          <a:solidFill>
            <a:srgbClr val="EBF4FD"/>
          </a:solidFill>
          <a:ln w="19050">
            <a:solidFill>
              <a:srgbClr val="1A8F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8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960120"/>
            <a:ext cx="1828800" cy="1097280"/>
          </a:xfrm>
          <a:prstGeom prst="rect">
            <a:avLst/>
          </a:prstGeom>
          <a:solidFill>
            <a:srgbClr val="EBF4FD"/>
          </a:solidFill>
          <a:ln w="19050">
            <a:solidFill>
              <a:srgbClr val="1A8F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8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603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1828800" cy="1097280"/>
          </a:xfrm>
          <a:prstGeom prst="rect">
            <a:avLst/>
          </a:prstGeom>
          <a:solidFill>
            <a:srgbClr val="EBF4FD"/>
          </a:solidFill>
          <a:ln w="19050">
            <a:solidFill>
              <a:srgbClr val="1A8F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8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6344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960120"/>
            <a:ext cx="1828800" cy="1097280"/>
          </a:xfrm>
          <a:prstGeom prst="rect">
            <a:avLst/>
          </a:prstGeom>
          <a:solidFill>
            <a:srgbClr val="EBF4FD"/>
          </a:solidFill>
          <a:ln w="19050">
            <a:solidFill>
              <a:srgbClr val="1A8F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8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Baseline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Table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8229600" cy="2194560"/>
        </p:xfrm>
        <a:graphic>
          <a:graphicData uri="http://schemas.openxmlformats.org/drawingml/2006/table">
            <a:tbl>
              <a:tblPr/>
              <a:tblGrid>
                <a:gridCol w="4114800"/>
                <a:gridCol w="1371600"/>
                <a:gridCol w="1371600"/>
                <a:gridCol w="13716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(Baseline)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(Optimized)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(Tuned)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8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(Tuned) — FINAL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8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8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8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023360" cy="1143000"/>
          </a:xfrm>
          <a:prstGeom prst="rect">
            <a:avLst/>
          </a:prstGeom>
          <a:solidFill>
            <a:srgbClr val="1C3554"/>
          </a:solidFill>
          <a:ln w="12700">
            <a:solidFill>
              <a:srgbClr val="1C35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54864" cy="1143000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216152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37673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tuned Random Forest model delivers an AUC-ROC of 0.88, demonstrating strong discriminative capability for cloudburst events.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4023360" cy="1143000"/>
          </a:xfrm>
          <a:prstGeom prst="rect">
            <a:avLst/>
          </a:prstGeom>
          <a:solidFill>
            <a:srgbClr val="1C3554"/>
          </a:solidFill>
          <a:ln w="12700">
            <a:solidFill>
              <a:srgbClr val="1C35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377440"/>
            <a:ext cx="54864" cy="1143000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496312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Advantage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2816352"/>
            <a:ext cx="37673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significantly outperforms Logistic Regression on imbalanced weather data due to its robustness to non-linear feature interactions.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657600"/>
            <a:ext cx="4023360" cy="1143000"/>
          </a:xfrm>
          <a:prstGeom prst="rect">
            <a:avLst/>
          </a:prstGeom>
          <a:solidFill>
            <a:srgbClr val="1C3554"/>
          </a:solidFill>
          <a:ln w="12700">
            <a:solidFill>
              <a:srgbClr val="1C35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657600"/>
            <a:ext cx="54864" cy="1143000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776472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" y="4096512"/>
            <a:ext cx="37673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humidity and atmospheric pressure are the most predictive features, consistent with meteorological theory.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097280"/>
            <a:ext cx="4023360" cy="1143000"/>
          </a:xfrm>
          <a:prstGeom prst="rect">
            <a:avLst/>
          </a:prstGeom>
          <a:solidFill>
            <a:srgbClr val="1C3554"/>
          </a:solidFill>
          <a:ln w="12700">
            <a:solidFill>
              <a:srgbClr val="1C35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097280"/>
            <a:ext cx="54864" cy="1143000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1216152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28032" y="1536192"/>
            <a:ext cx="37673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XGBoost and LightGBM models; apply SMOTE oversampling to address class imbalance more aggressively.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377440"/>
            <a:ext cx="4023360" cy="1143000"/>
          </a:xfrm>
          <a:prstGeom prst="rect">
            <a:avLst/>
          </a:prstGeom>
          <a:solidFill>
            <a:srgbClr val="1C3554"/>
          </a:solidFill>
          <a:ln w="12700">
            <a:solidFill>
              <a:srgbClr val="1C355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377440"/>
            <a:ext cx="54864" cy="1143000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496312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Features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28032" y="2816352"/>
            <a:ext cx="37673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dataset with rolling averages, lag features, and seasonal indicators to capture time-series weather patterns.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657600"/>
            <a:ext cx="4023360" cy="1143000"/>
          </a:xfrm>
          <a:prstGeom prst="rect">
            <a:avLst/>
          </a:prstGeom>
          <a:solidFill>
            <a:srgbClr val="1C3554"/>
          </a:solidFill>
          <a:ln w="12700">
            <a:solidFill>
              <a:srgbClr val="1C355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3657600"/>
            <a:ext cx="54864" cy="1143000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3776472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28032" y="4096512"/>
            <a:ext cx="37673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live weather APIs and schedule automated daily predictions for operational early-warning systems.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CloudBurst Prediction System — Machine Learning Project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Prithviraj Arora  |  2023BTCSE025L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Jagran Lakecity University  |  Machine Learning  |  Semester 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8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github.com/prithvirajarora/cloudburst-ml-project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CloudBurst Prediction System</dc:title>
  <dc:subject>PptxGenJS Presentation</dc:subject>
  <dc:creator>Prithviraj Arora</dc:creator>
  <cp:lastModifiedBy>Prithviraj Arora</cp:lastModifiedBy>
  <cp:revision>1</cp:revision>
  <dcterms:created xsi:type="dcterms:W3CDTF">2026-05-03T17:21:36Z</dcterms:created>
  <dcterms:modified xsi:type="dcterms:W3CDTF">2026-05-03T17:21:36Z</dcterms:modified>
</cp:coreProperties>
</file>